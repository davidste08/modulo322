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5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73362" autoAdjust="0"/>
  </p:normalViewPr>
  <p:slideViewPr>
    <p:cSldViewPr snapToGrid="0" snapToObjects="1">
      <p:cViewPr varScale="1">
        <p:scale>
          <a:sx n="107" d="100"/>
          <a:sy n="107" d="100"/>
        </p:scale>
        <p:origin x="17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07554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Presentazione dell'app MyAgenda. Iniziare presentandosi e spiegando brevemente di cosa si </a:t>
            </a:r>
            <a:r>
              <a:rPr lang="en-US" dirty="0" err="1"/>
              <a:t>tratta</a:t>
            </a:r>
            <a:r>
              <a:rPr lang="en-US" dirty="0"/>
              <a:t>.</a:t>
            </a:r>
          </a:p>
          <a:p>
            <a:r>
              <a:rPr lang="en-US" dirty="0"/>
              <a:t>David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Breve panoramica dei </a:t>
            </a:r>
            <a:r>
              <a:rPr lang="en-US" dirty="0" err="1"/>
              <a:t>temi</a:t>
            </a:r>
            <a:r>
              <a:rPr lang="en-US" dirty="0"/>
              <a:t> </a:t>
            </a:r>
            <a:r>
              <a:rPr lang="en-US" dirty="0" err="1"/>
              <a:t>trattati</a:t>
            </a:r>
            <a:r>
              <a:rPr lang="en-US" dirty="0"/>
              <a:t>. Non soffermarsi </a:t>
            </a:r>
            <a:r>
              <a:rPr lang="en-US" dirty="0" err="1"/>
              <a:t>troppo</a:t>
            </a:r>
            <a:r>
              <a:rPr lang="en-US" dirty="0"/>
              <a:t>.</a:t>
            </a:r>
          </a:p>
          <a:p>
            <a:r>
              <a:rPr lang="en-US" dirty="0"/>
              <a:t>David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Spiegare il contesto: studente che </a:t>
            </a:r>
            <a:r>
              <a:rPr lang="en-US" dirty="0" err="1"/>
              <a:t>deve</a:t>
            </a:r>
            <a:r>
              <a:rPr lang="en-US" dirty="0"/>
              <a:t> </a:t>
            </a:r>
            <a:r>
              <a:rPr lang="en-US" dirty="0" err="1"/>
              <a:t>tenere</a:t>
            </a:r>
            <a:r>
              <a:rPr lang="en-US" dirty="0"/>
              <a:t> traccia di tutto. MyAgenda è la </a:t>
            </a:r>
            <a:r>
              <a:rPr lang="en-US" dirty="0" err="1"/>
              <a:t>soluzione</a:t>
            </a:r>
            <a:r>
              <a:rPr lang="en-US" dirty="0"/>
              <a:t>.</a:t>
            </a:r>
          </a:p>
          <a:p>
            <a:r>
              <a:rPr lang="en-US" dirty="0"/>
              <a:t>Mateo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Elencare le funzionalità con calma. Sottolineare che ognuna è pensata per lo </a:t>
            </a:r>
            <a:r>
              <a:rPr lang="en-US" dirty="0" err="1"/>
              <a:t>studente</a:t>
            </a:r>
            <a:r>
              <a:rPr lang="en-US" dirty="0"/>
              <a:t>.</a:t>
            </a:r>
          </a:p>
          <a:p>
            <a:r>
              <a:rPr lang="en-US" dirty="0"/>
              <a:t>David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Spiegare perché MAUI: unico codice per 3 piattaforme. Descrivere la separazione Models/Services.</a:t>
            </a:r>
          </a:p>
          <a:p>
            <a:r>
              <a:rPr lang="en-US" dirty="0"/>
              <a:t>Mateo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Spiegare che le password NON vengono mai salvate in chiaro. Il salt rende unico ogni hash.</a:t>
            </a:r>
          </a:p>
          <a:p>
            <a:r>
              <a:rPr lang="en-US" dirty="0"/>
              <a:t>David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Mostrare che il tema cambia visivamente in tempo reale. DynamicResource è la chiave </a:t>
            </a:r>
            <a:r>
              <a:rPr lang="en-US" dirty="0" err="1"/>
              <a:t>tecnica</a:t>
            </a:r>
            <a:r>
              <a:rPr lang="en-US" dirty="0"/>
              <a:t>.</a:t>
            </a:r>
          </a:p>
          <a:p>
            <a:r>
              <a:rPr lang="en-US" dirty="0"/>
              <a:t>Matteo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Sottolineare che ogni servizio ha una sola responsabilità (SRP). Il codice è più facile da testare e </a:t>
            </a:r>
            <a:r>
              <a:rPr lang="en-US" dirty="0" err="1"/>
              <a:t>mantenere</a:t>
            </a:r>
            <a:r>
              <a:rPr lang="en-US" dirty="0"/>
              <a:t>.</a:t>
            </a:r>
          </a:p>
          <a:p>
            <a:r>
              <a:rPr lang="en-US" dirty="0"/>
              <a:t>Mateo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Mostrare l'app in diretta se possibile. Altrimenti descrivere ogni </a:t>
            </a:r>
            <a:r>
              <a:rPr lang="en-US" dirty="0" err="1"/>
              <a:t>schermata</a:t>
            </a:r>
            <a:r>
              <a:rPr lang="en-US" dirty="0"/>
              <a:t>.</a:t>
            </a:r>
          </a:p>
          <a:p>
            <a:r>
              <a:rPr lang="en-US" dirty="0"/>
              <a:t>David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it-CH" dirty="0"/>
          </a:p>
        </p:txBody>
      </p:sp>
    </p:spTree>
    <p:extLst>
      <p:ext uri="{BB962C8B-B14F-4D97-AF65-F5344CB8AC3E}">
        <p14:creationId xmlns:p14="http://schemas.microsoft.com/office/powerpoint/2010/main" val="76604217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Ringraziare la classe e i professori. Aprire alle </a:t>
            </a:r>
            <a:r>
              <a:rPr lang="en-US" dirty="0" err="1"/>
              <a:t>domande</a:t>
            </a:r>
            <a:r>
              <a:rPr lang="en-US" dirty="0"/>
              <a:t>.</a:t>
            </a:r>
          </a:p>
          <a:p>
            <a:r>
              <a:rPr lang="en-US" dirty="0"/>
              <a:t>Matteo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-914400"/>
            <a:ext cx="4114800" cy="4114800"/>
          </a:xfrm>
          <a:prstGeom prst="ellipse">
            <a:avLst/>
          </a:prstGeom>
          <a:solidFill>
            <a:srgbClr val="2563EB">
              <a:alpha val="25000"/>
            </a:srgbClr>
          </a:solidFill>
          <a:ln w="12700">
            <a:solidFill>
              <a:srgbClr val="2563EB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3" name="Shape 1"/>
          <p:cNvSpPr/>
          <p:nvPr/>
        </p:nvSpPr>
        <p:spPr>
          <a:xfrm>
            <a:off x="7315200" y="-365760"/>
            <a:ext cx="2743200" cy="2743200"/>
          </a:xfrm>
          <a:prstGeom prst="ellipse">
            <a:avLst/>
          </a:prstGeom>
          <a:solidFill>
            <a:srgbClr val="2563EB">
              <a:alpha val="45000"/>
            </a:srgbClr>
          </a:solidFill>
          <a:ln w="12700">
            <a:solidFill>
              <a:srgbClr val="2563EB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051560"/>
            <a:ext cx="777240" cy="7772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173736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MyAgenda</a:t>
            </a:r>
            <a:endParaRPr lang="en-US" sz="5600" dirty="0"/>
          </a:p>
        </p:txBody>
      </p:sp>
      <p:sp>
        <p:nvSpPr>
          <p:cNvPr id="6" name="Text 3"/>
          <p:cNvSpPr/>
          <p:nvPr/>
        </p:nvSpPr>
        <p:spPr>
          <a:xfrm>
            <a:off x="457200" y="27889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tua agenda scolastica digitale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457200" y="3429000"/>
            <a:ext cx="1618488" cy="347472"/>
          </a:xfrm>
          <a:prstGeom prst="roundRect">
            <a:avLst>
              <a:gd name="adj" fmla="val 13158"/>
            </a:avLst>
          </a:prstGeom>
          <a:solidFill>
            <a:srgbClr val="2563EB">
              <a:alpha val="40000"/>
            </a:srgbClr>
          </a:solidFill>
          <a:ln w="12700">
            <a:solidFill>
              <a:srgbClr val="60A5FA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8" name="Text 5"/>
          <p:cNvSpPr/>
          <p:nvPr/>
        </p:nvSpPr>
        <p:spPr>
          <a:xfrm>
            <a:off x="530352" y="3456432"/>
            <a:ext cx="1472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.NET MAUI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103120" y="3429000"/>
            <a:ext cx="786384" cy="347472"/>
          </a:xfrm>
          <a:prstGeom prst="roundRect">
            <a:avLst>
              <a:gd name="adj" fmla="val 13158"/>
            </a:avLst>
          </a:prstGeom>
          <a:solidFill>
            <a:srgbClr val="2563EB">
              <a:alpha val="40000"/>
            </a:srgbClr>
          </a:solidFill>
          <a:ln w="12700">
            <a:solidFill>
              <a:srgbClr val="60A5FA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10" name="Text 7"/>
          <p:cNvSpPr/>
          <p:nvPr/>
        </p:nvSpPr>
        <p:spPr>
          <a:xfrm>
            <a:off x="2176272" y="345643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C#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457200" y="44805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 Stefanovic, Mateo </a:t>
            </a:r>
            <a:r>
              <a:rPr lang="en-US" sz="1100" dirty="0" err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Zrakic</a:t>
            </a: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Matteo Molteni  ·  SAMT Trevano  ·  2025/2026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Indice della presentazione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Cosa vedremo oggi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1148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CH"/>
          </a:p>
        </p:txBody>
      </p:sp>
      <p:sp>
        <p:nvSpPr>
          <p:cNvPr id="5" name="Shape 3"/>
          <p:cNvSpPr/>
          <p:nvPr/>
        </p:nvSpPr>
        <p:spPr>
          <a:xfrm>
            <a:off x="566928" y="1307592"/>
            <a:ext cx="448056" cy="44805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6" name="Text 4"/>
          <p:cNvSpPr/>
          <p:nvPr/>
        </p:nvSpPr>
        <p:spPr>
          <a:xfrm>
            <a:off x="566928" y="1307592"/>
            <a:ext cx="44805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115568" y="1325880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Obiettivo del progetto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800600" y="1188720"/>
            <a:ext cx="41148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CH"/>
          </a:p>
        </p:txBody>
      </p:sp>
      <p:sp>
        <p:nvSpPr>
          <p:cNvPr id="9" name="Shape 7"/>
          <p:cNvSpPr/>
          <p:nvPr/>
        </p:nvSpPr>
        <p:spPr>
          <a:xfrm>
            <a:off x="4910328" y="1307592"/>
            <a:ext cx="448056" cy="448056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10" name="Text 8"/>
          <p:cNvSpPr/>
          <p:nvPr/>
        </p:nvSpPr>
        <p:spPr>
          <a:xfrm>
            <a:off x="4910328" y="1307592"/>
            <a:ext cx="44805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58968" y="1325880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Funzionalità principali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2103120"/>
            <a:ext cx="41148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CH"/>
          </a:p>
        </p:txBody>
      </p:sp>
      <p:sp>
        <p:nvSpPr>
          <p:cNvPr id="13" name="Shape 11"/>
          <p:cNvSpPr/>
          <p:nvPr/>
        </p:nvSpPr>
        <p:spPr>
          <a:xfrm>
            <a:off x="566928" y="2221992"/>
            <a:ext cx="448056" cy="44805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14" name="Text 12"/>
          <p:cNvSpPr/>
          <p:nvPr/>
        </p:nvSpPr>
        <p:spPr>
          <a:xfrm>
            <a:off x="566928" y="2221992"/>
            <a:ext cx="44805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15568" y="2240280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Architettura e tecnologie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800600" y="2103120"/>
            <a:ext cx="41148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CH"/>
          </a:p>
        </p:txBody>
      </p:sp>
      <p:sp>
        <p:nvSpPr>
          <p:cNvPr id="17" name="Shape 15"/>
          <p:cNvSpPr/>
          <p:nvPr/>
        </p:nvSpPr>
        <p:spPr>
          <a:xfrm>
            <a:off x="4910328" y="2221992"/>
            <a:ext cx="448056" cy="44805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18" name="Text 16"/>
          <p:cNvSpPr/>
          <p:nvPr/>
        </p:nvSpPr>
        <p:spPr>
          <a:xfrm>
            <a:off x="4910328" y="2221992"/>
            <a:ext cx="44805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58968" y="2240280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Sicurezza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3017520"/>
            <a:ext cx="41148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CH"/>
          </a:p>
        </p:txBody>
      </p:sp>
      <p:sp>
        <p:nvSpPr>
          <p:cNvPr id="21" name="Shape 19"/>
          <p:cNvSpPr/>
          <p:nvPr/>
        </p:nvSpPr>
        <p:spPr>
          <a:xfrm>
            <a:off x="566928" y="3136392"/>
            <a:ext cx="448056" cy="44805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22" name="Text 20"/>
          <p:cNvSpPr/>
          <p:nvPr/>
        </p:nvSpPr>
        <p:spPr>
          <a:xfrm>
            <a:off x="566928" y="3136392"/>
            <a:ext cx="44805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115568" y="3154680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UI/UX e design system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800600" y="3017520"/>
            <a:ext cx="41148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CH"/>
          </a:p>
        </p:txBody>
      </p:sp>
      <p:sp>
        <p:nvSpPr>
          <p:cNvPr id="25" name="Shape 23"/>
          <p:cNvSpPr/>
          <p:nvPr/>
        </p:nvSpPr>
        <p:spPr>
          <a:xfrm>
            <a:off x="4910328" y="3136392"/>
            <a:ext cx="448056" cy="448056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26" name="Text 24"/>
          <p:cNvSpPr/>
          <p:nvPr/>
        </p:nvSpPr>
        <p:spPr>
          <a:xfrm>
            <a:off x="4910328" y="3136392"/>
            <a:ext cx="44805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458968" y="3154680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Struttura del codice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457200" y="3931920"/>
            <a:ext cx="41148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CH"/>
          </a:p>
        </p:txBody>
      </p:sp>
      <p:sp>
        <p:nvSpPr>
          <p:cNvPr id="29" name="Shape 27"/>
          <p:cNvSpPr/>
          <p:nvPr/>
        </p:nvSpPr>
        <p:spPr>
          <a:xfrm>
            <a:off x="566928" y="4050792"/>
            <a:ext cx="448056" cy="44805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30" name="Text 28"/>
          <p:cNvSpPr/>
          <p:nvPr/>
        </p:nvSpPr>
        <p:spPr>
          <a:xfrm>
            <a:off x="566928" y="4050792"/>
            <a:ext cx="44805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115568" y="4069080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e schermate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4800600" y="3931920"/>
            <a:ext cx="41148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CH"/>
          </a:p>
        </p:txBody>
      </p:sp>
      <p:sp>
        <p:nvSpPr>
          <p:cNvPr id="33" name="Shape 31"/>
          <p:cNvSpPr/>
          <p:nvPr/>
        </p:nvSpPr>
        <p:spPr>
          <a:xfrm>
            <a:off x="4910328" y="4050792"/>
            <a:ext cx="448056" cy="44805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34" name="Text 32"/>
          <p:cNvSpPr/>
          <p:nvPr/>
        </p:nvSpPr>
        <p:spPr>
          <a:xfrm>
            <a:off x="4910328" y="4050792"/>
            <a:ext cx="44805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458968" y="4069080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Conclusioni e sviluppi futuri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Obiettivo del progetto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Perché abbiamo creato MyAgenda?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512064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CH"/>
          </a:p>
        </p:txBody>
      </p:sp>
      <p:sp>
        <p:nvSpPr>
          <p:cNvPr id="5" name="Text 3"/>
          <p:cNvSpPr/>
          <p:nvPr/>
        </p:nvSpPr>
        <p:spPr>
          <a:xfrm>
            <a:off x="640080" y="12344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problema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1691640"/>
            <a:ext cx="475488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Gestire materie, voti, attività e impegni scolastici è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spesso caotico senza uno strumento dedicato.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MyAgenda nasce come agenda scolastica digitale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multipiattaforma (Windows, Android, iOS) pensata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studenti che vogliono organizzarsi meglio.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760720" y="1097280"/>
            <a:ext cx="2880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CH"/>
          </a:p>
        </p:txBody>
      </p:sp>
      <p:sp>
        <p:nvSpPr>
          <p:cNvPr id="8" name="Text 6"/>
          <p:cNvSpPr/>
          <p:nvPr/>
        </p:nvSpPr>
        <p:spPr>
          <a:xfrm>
            <a:off x="5897880" y="12984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📅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492240" y="1234440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Gestire eventi e attività con un calendario visivo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760720" y="2286000"/>
            <a:ext cx="2880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CH"/>
          </a:p>
        </p:txBody>
      </p:sp>
      <p:sp>
        <p:nvSpPr>
          <p:cNvPr id="11" name="Text 9"/>
          <p:cNvSpPr/>
          <p:nvPr/>
        </p:nvSpPr>
        <p:spPr>
          <a:xfrm>
            <a:off x="5897880" y="24871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📚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6492240" y="2423160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Tracciare materie, voti e medie scolastiche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760720" y="3474720"/>
            <a:ext cx="2880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CH"/>
          </a:p>
        </p:txBody>
      </p:sp>
      <p:sp>
        <p:nvSpPr>
          <p:cNvPr id="14" name="Text 12"/>
          <p:cNvSpPr/>
          <p:nvPr/>
        </p:nvSpPr>
        <p:spPr>
          <a:xfrm>
            <a:off x="5897880" y="36758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👤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492240" y="3611880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personale sicuro con profilo personalizzabile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Funzionalità principali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Cosa può fare MyAgenda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269748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CH"/>
          </a:p>
        </p:txBody>
      </p:sp>
      <p:sp>
        <p:nvSpPr>
          <p:cNvPr id="5" name="Text 3"/>
          <p:cNvSpPr/>
          <p:nvPr/>
        </p:nvSpPr>
        <p:spPr>
          <a:xfrm>
            <a:off x="566928" y="1280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🔐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66928" y="1801368"/>
            <a:ext cx="24780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Autenticazione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66928" y="2103120"/>
            <a:ext cx="24780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Login, registrazione con validazione password sicura e hashing SHA-256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37560" y="1143000"/>
            <a:ext cx="269748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CH"/>
          </a:p>
        </p:txBody>
      </p:sp>
      <p:sp>
        <p:nvSpPr>
          <p:cNvPr id="9" name="Text 7"/>
          <p:cNvSpPr/>
          <p:nvPr/>
        </p:nvSpPr>
        <p:spPr>
          <a:xfrm>
            <a:off x="3447288" y="1280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📅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3447288" y="1801368"/>
            <a:ext cx="24780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Calendario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447288" y="2103120"/>
            <a:ext cx="24780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settimanale con eventi, quick-add e navigazione per data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17920" y="1143000"/>
            <a:ext cx="269748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CH"/>
          </a:p>
        </p:txBody>
      </p:sp>
      <p:sp>
        <p:nvSpPr>
          <p:cNvPr id="13" name="Text 11"/>
          <p:cNvSpPr/>
          <p:nvPr/>
        </p:nvSpPr>
        <p:spPr>
          <a:xfrm>
            <a:off x="6327648" y="1280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📚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327648" y="1801368"/>
            <a:ext cx="24780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Materie e voti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327648" y="2103120"/>
            <a:ext cx="24780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Gestione di materie per semestre, inserimento voti e calcolo media automatico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971800"/>
            <a:ext cx="269748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CH"/>
          </a:p>
        </p:txBody>
      </p:sp>
      <p:sp>
        <p:nvSpPr>
          <p:cNvPr id="17" name="Text 15"/>
          <p:cNvSpPr/>
          <p:nvPr/>
        </p:nvSpPr>
        <p:spPr>
          <a:xfrm>
            <a:off x="566928" y="3108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👤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566928" y="3630168"/>
            <a:ext cx="24780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Profilo account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66928" y="3931920"/>
            <a:ext cx="24780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Cambio username e password, tema colori e dimensione testo personalizzabili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337560" y="2971800"/>
            <a:ext cx="269748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CH"/>
          </a:p>
        </p:txBody>
      </p:sp>
      <p:sp>
        <p:nvSpPr>
          <p:cNvPr id="21" name="Text 19"/>
          <p:cNvSpPr/>
          <p:nvPr/>
        </p:nvSpPr>
        <p:spPr>
          <a:xfrm>
            <a:off x="3447288" y="3108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🏠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3447288" y="3630168"/>
            <a:ext cx="24780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447288" y="3931920"/>
            <a:ext cx="24780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con prossimi 3 eventi, top 3 materie per media e calendario giornaliero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217920" y="2971800"/>
            <a:ext cx="269748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CH"/>
          </a:p>
        </p:txBody>
      </p:sp>
      <p:sp>
        <p:nvSpPr>
          <p:cNvPr id="25" name="Text 23"/>
          <p:cNvSpPr/>
          <p:nvPr/>
        </p:nvSpPr>
        <p:spPr>
          <a:xfrm>
            <a:off x="6327648" y="3108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💾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6327648" y="3630168"/>
            <a:ext cx="24780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Persistenza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327648" y="3931920"/>
            <a:ext cx="24780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Dati salvati localmente per utente in formato JSON, account in Preferences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Architettura e tecnologie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tecnologico e struttura del progetto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4114800" cy="594360"/>
          </a:xfrm>
          <a:prstGeom prst="roundRect">
            <a:avLst>
              <a:gd name="adj" fmla="val 10769"/>
            </a:avLst>
          </a:prstGeom>
          <a:solidFill>
            <a:srgbClr val="1E3A5F">
              <a:alpha val="60000"/>
            </a:srgbClr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5" name="Shape 3"/>
          <p:cNvSpPr/>
          <p:nvPr/>
        </p:nvSpPr>
        <p:spPr>
          <a:xfrm>
            <a:off x="594360" y="1399032"/>
            <a:ext cx="365760" cy="36576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6" name="Text 4"/>
          <p:cNvSpPr/>
          <p:nvPr/>
        </p:nvSpPr>
        <p:spPr>
          <a:xfrm>
            <a:off x="1078992" y="135331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.NET MAUI 8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78992" y="1581912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multipiattaforma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993392"/>
            <a:ext cx="4114800" cy="594360"/>
          </a:xfrm>
          <a:prstGeom prst="roundRect">
            <a:avLst>
              <a:gd name="adj" fmla="val 10769"/>
            </a:avLst>
          </a:prstGeom>
          <a:solidFill>
            <a:srgbClr val="1E3A5F">
              <a:alpha val="60000"/>
            </a:srgbClr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9" name="Shape 7"/>
          <p:cNvSpPr/>
          <p:nvPr/>
        </p:nvSpPr>
        <p:spPr>
          <a:xfrm>
            <a:off x="594360" y="2112264"/>
            <a:ext cx="365760" cy="36576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10" name="Text 8"/>
          <p:cNvSpPr/>
          <p:nvPr/>
        </p:nvSpPr>
        <p:spPr>
          <a:xfrm>
            <a:off x="1078992" y="206654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C# 12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78992" y="2295144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Linguaggio di programmazione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706624"/>
            <a:ext cx="4114800" cy="594360"/>
          </a:xfrm>
          <a:prstGeom prst="roundRect">
            <a:avLst>
              <a:gd name="adj" fmla="val 10769"/>
            </a:avLst>
          </a:prstGeom>
          <a:solidFill>
            <a:srgbClr val="1E3A5F">
              <a:alpha val="60000"/>
            </a:srgbClr>
          </a:solidFill>
          <a:ln w="127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13" name="Shape 11"/>
          <p:cNvSpPr/>
          <p:nvPr/>
        </p:nvSpPr>
        <p:spPr>
          <a:xfrm>
            <a:off x="594360" y="2825496"/>
            <a:ext cx="365760" cy="365760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14" name="Text 12"/>
          <p:cNvSpPr/>
          <p:nvPr/>
        </p:nvSpPr>
        <p:spPr>
          <a:xfrm>
            <a:off x="1078992" y="277977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XAML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78992" y="3008376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Definizione interfaccia UI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419856"/>
            <a:ext cx="4114800" cy="594360"/>
          </a:xfrm>
          <a:prstGeom prst="roundRect">
            <a:avLst>
              <a:gd name="adj" fmla="val 10769"/>
            </a:avLst>
          </a:prstGeom>
          <a:solidFill>
            <a:srgbClr val="1E3A5F">
              <a:alpha val="60000"/>
            </a:srgbClr>
          </a:solidFill>
          <a:ln w="12700">
            <a:solidFill>
              <a:srgbClr val="FB923C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17" name="Shape 15"/>
          <p:cNvSpPr/>
          <p:nvPr/>
        </p:nvSpPr>
        <p:spPr>
          <a:xfrm>
            <a:off x="594360" y="3538728"/>
            <a:ext cx="365760" cy="365760"/>
          </a:xfrm>
          <a:prstGeom prst="ellipse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18" name="Text 16"/>
          <p:cNvSpPr/>
          <p:nvPr/>
        </p:nvSpPr>
        <p:spPr>
          <a:xfrm>
            <a:off x="1078992" y="349300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78992" y="3721608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Serializzazione dati locali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4133088"/>
            <a:ext cx="4114800" cy="594360"/>
          </a:xfrm>
          <a:prstGeom prst="roundRect">
            <a:avLst>
              <a:gd name="adj" fmla="val 10769"/>
            </a:avLst>
          </a:prstGeom>
          <a:solidFill>
            <a:srgbClr val="1E3A5F">
              <a:alpha val="60000"/>
            </a:srgbClr>
          </a:solidFill>
          <a:ln w="12700">
            <a:solidFill>
              <a:srgbClr val="F472B6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21" name="Shape 19"/>
          <p:cNvSpPr/>
          <p:nvPr/>
        </p:nvSpPr>
        <p:spPr>
          <a:xfrm>
            <a:off x="594360" y="4251960"/>
            <a:ext cx="365760" cy="365760"/>
          </a:xfrm>
          <a:prstGeom prst="ellipse">
            <a:avLst/>
          </a:prstGeom>
          <a:solidFill>
            <a:srgbClr val="F472B6"/>
          </a:solidFill>
          <a:ln w="12700">
            <a:solidFill>
              <a:srgbClr val="F472B6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22" name="Text 20"/>
          <p:cNvSpPr/>
          <p:nvPr/>
        </p:nvSpPr>
        <p:spPr>
          <a:xfrm>
            <a:off x="1078992" y="420624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SHA-256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78992" y="443484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Hashing password con salt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029200" y="123444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Struttura cartelle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029200" y="16002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📁  MyAgenda/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5193792" y="192024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A5F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📁  Models/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358384" y="224028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Models.cs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5193792" y="256032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A5F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📁  Services/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5358384" y="288036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AuthService.cs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5358384" y="32004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SessionService.cs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5358384" y="352044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StorageService.cs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5358384" y="384048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ThemeService.cs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193792" y="416052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A5F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📄  *.xaml / *.cs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5193792" y="448056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A5F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📁  Resources/Styles/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Sicurezza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proteggiamo i dati dell'utente</a:t>
            </a:r>
            <a:endParaRPr lang="en-US" sz="1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97280"/>
            <a:ext cx="1097280" cy="10972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828800" y="10972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Hashing password: SHA-256 + Salt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1828800" y="1609344"/>
            <a:ext cx="329184" cy="329184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7" name="Text 4"/>
          <p:cNvSpPr/>
          <p:nvPr/>
        </p:nvSpPr>
        <p:spPr>
          <a:xfrm>
            <a:off x="1828800" y="16093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2267712" y="157276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Salt casuale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2267712" y="1810512"/>
            <a:ext cx="6492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Generato con RandomNumberGenerator (16 byte) — unico per ogni utente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1828800" y="2185416"/>
            <a:ext cx="329184" cy="329184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11" name="Text 8"/>
          <p:cNvSpPr/>
          <p:nvPr/>
        </p:nvSpPr>
        <p:spPr>
          <a:xfrm>
            <a:off x="1828800" y="2185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2267712" y="214884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Salted string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2267712" y="2386584"/>
            <a:ext cx="6492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password viene combinata: salt + password + salt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1828800" y="2761488"/>
            <a:ext cx="329184" cy="329184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15" name="Text 12"/>
          <p:cNvSpPr/>
          <p:nvPr/>
        </p:nvSpPr>
        <p:spPr>
          <a:xfrm>
            <a:off x="1828800" y="2761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267712" y="272491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SHA-256 hash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2267712" y="2962656"/>
            <a:ext cx="6492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L'intera stringa viene hashata — irreversibile per design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1828800" y="3337560"/>
            <a:ext cx="329184" cy="329184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19" name="Text 16"/>
          <p:cNvSpPr/>
          <p:nvPr/>
        </p:nvSpPr>
        <p:spPr>
          <a:xfrm>
            <a:off x="1828800" y="33375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2267712" y="330098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 login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2267712" y="3538728"/>
            <a:ext cx="6492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login si ricalcola l'hash e si confronta — mai in chiaro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57200" y="3931920"/>
            <a:ext cx="82296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CH"/>
          </a:p>
        </p:txBody>
      </p:sp>
      <p:sp>
        <p:nvSpPr>
          <p:cNvPr id="23" name="Text 20"/>
          <p:cNvSpPr/>
          <p:nvPr/>
        </p:nvSpPr>
        <p:spPr>
          <a:xfrm>
            <a:off x="640080" y="4005072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Validazione password alla registrazione: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40080" y="4315968"/>
            <a:ext cx="173736" cy="173736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25" name="Text 22"/>
          <p:cNvSpPr/>
          <p:nvPr/>
        </p:nvSpPr>
        <p:spPr>
          <a:xfrm>
            <a:off x="868680" y="427939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Min. 8 caratteri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3337560" y="4315968"/>
            <a:ext cx="173736" cy="173736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27" name="Text 24"/>
          <p:cNvSpPr/>
          <p:nvPr/>
        </p:nvSpPr>
        <p:spPr>
          <a:xfrm>
            <a:off x="3566160" y="427939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Max. 64 caratteri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6035040" y="4315968"/>
            <a:ext cx="173736" cy="173736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29" name="Text 26"/>
          <p:cNvSpPr/>
          <p:nvPr/>
        </p:nvSpPr>
        <p:spPr>
          <a:xfrm>
            <a:off x="6263640" y="427939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maiuscola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640080" y="4608576"/>
            <a:ext cx="173736" cy="173736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31" name="Text 28"/>
          <p:cNvSpPr/>
          <p:nvPr/>
        </p:nvSpPr>
        <p:spPr>
          <a:xfrm>
            <a:off x="868680" y="457200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minuscola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3337560" y="4608576"/>
            <a:ext cx="173736" cy="173736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33" name="Text 30"/>
          <p:cNvSpPr/>
          <p:nvPr/>
        </p:nvSpPr>
        <p:spPr>
          <a:xfrm>
            <a:off x="3566160" y="457200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numero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6035040" y="4608576"/>
            <a:ext cx="173736" cy="173736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35" name="Text 32"/>
          <p:cNvSpPr/>
          <p:nvPr/>
        </p:nvSpPr>
        <p:spPr>
          <a:xfrm>
            <a:off x="6263640" y="457200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speciale (!@#...)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UI/UX e Design System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Un'interfaccia coerente, moderna e personalizzabile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temi colore disponibili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965960" cy="731520"/>
          </a:xfrm>
          <a:prstGeom prst="roundRect">
            <a:avLst>
              <a:gd name="adj" fmla="val 12500"/>
            </a:avLst>
          </a:prstGeom>
          <a:solidFill>
            <a:srgbClr val="2563EB"/>
          </a:solidFill>
          <a:ln/>
        </p:spPr>
        <p:txBody>
          <a:bodyPr/>
          <a:lstStyle/>
          <a:p>
            <a:endParaRPr lang="it-CH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Predefinito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606040" y="1417320"/>
            <a:ext cx="1965960" cy="731520"/>
          </a:xfrm>
          <a:prstGeom prst="roundRect">
            <a:avLst>
              <a:gd name="adj" fmla="val 12500"/>
            </a:avLst>
          </a:prstGeom>
          <a:solidFill>
            <a:srgbClr val="0891B2"/>
          </a:solidFill>
          <a:ln/>
        </p:spPr>
        <p:txBody>
          <a:bodyPr/>
          <a:lstStyle/>
          <a:p>
            <a:endParaRPr lang="it-CH"/>
          </a:p>
        </p:txBody>
      </p:sp>
      <p:sp>
        <p:nvSpPr>
          <p:cNvPr id="8" name="Text 6"/>
          <p:cNvSpPr/>
          <p:nvPr/>
        </p:nvSpPr>
        <p:spPr>
          <a:xfrm>
            <a:off x="2606040" y="141732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Oceano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754880" y="1417320"/>
            <a:ext cx="1965960" cy="731520"/>
          </a:xfrm>
          <a:prstGeom prst="roundRect">
            <a:avLst>
              <a:gd name="adj" fmla="val 12500"/>
            </a:avLst>
          </a:prstGeom>
          <a:solidFill>
            <a:srgbClr val="16A34A"/>
          </a:solidFill>
          <a:ln/>
        </p:spPr>
        <p:txBody>
          <a:bodyPr/>
          <a:lstStyle/>
          <a:p>
            <a:endParaRPr lang="it-CH"/>
          </a:p>
        </p:txBody>
      </p:sp>
      <p:sp>
        <p:nvSpPr>
          <p:cNvPr id="10" name="Text 8"/>
          <p:cNvSpPr/>
          <p:nvPr/>
        </p:nvSpPr>
        <p:spPr>
          <a:xfrm>
            <a:off x="4754880" y="141732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Foresta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903720" y="1417320"/>
            <a:ext cx="1965960" cy="731520"/>
          </a:xfrm>
          <a:prstGeom prst="roundRect">
            <a:avLst>
              <a:gd name="adj" fmla="val 12500"/>
            </a:avLst>
          </a:prstGeom>
          <a:solidFill>
            <a:srgbClr val="EA580C"/>
          </a:solidFill>
          <a:ln/>
        </p:spPr>
        <p:txBody>
          <a:bodyPr/>
          <a:lstStyle/>
          <a:p>
            <a:endParaRPr lang="it-CH"/>
          </a:p>
        </p:txBody>
      </p:sp>
      <p:sp>
        <p:nvSpPr>
          <p:cNvPr id="12" name="Text 10"/>
          <p:cNvSpPr/>
          <p:nvPr/>
        </p:nvSpPr>
        <p:spPr>
          <a:xfrm>
            <a:off x="6903720" y="141732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Tramonto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286000"/>
            <a:ext cx="82296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CH"/>
          </a:p>
        </p:txBody>
      </p:sp>
      <p:sp>
        <p:nvSpPr>
          <p:cNvPr id="14" name="Text 12"/>
          <p:cNvSpPr/>
          <p:nvPr/>
        </p:nvSpPr>
        <p:spPr>
          <a:xfrm>
            <a:off x="640080" y="23774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 DynamicResource — aggiornamento in tempo reale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" y="26974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Tutti i XAML usano DynamicResource invece di StaticResource. Quando l'utente cambia tema o dimensione testo, MAUI aggiorna automaticamente ogni controllo dell'app senza bisogno di riavviare.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342900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dimensioni di testo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3767328"/>
            <a:ext cx="26974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CH"/>
          </a:p>
        </p:txBody>
      </p:sp>
      <p:sp>
        <p:nvSpPr>
          <p:cNvPr id="18" name="Text 16"/>
          <p:cNvSpPr/>
          <p:nvPr/>
        </p:nvSpPr>
        <p:spPr>
          <a:xfrm>
            <a:off x="594360" y="3858768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Piccolo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94360" y="4251960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 12pt · Titoli 22pt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337560" y="3767328"/>
            <a:ext cx="26974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CH"/>
          </a:p>
        </p:txBody>
      </p:sp>
      <p:sp>
        <p:nvSpPr>
          <p:cNvPr id="21" name="Text 19"/>
          <p:cNvSpPr/>
          <p:nvPr/>
        </p:nvSpPr>
        <p:spPr>
          <a:xfrm>
            <a:off x="3474720" y="3858768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474720" y="4251960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 14pt · Titoli 26pt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217920" y="3767328"/>
            <a:ext cx="26974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CH"/>
          </a:p>
        </p:txBody>
      </p:sp>
      <p:sp>
        <p:nvSpPr>
          <p:cNvPr id="24" name="Text 22"/>
          <p:cNvSpPr/>
          <p:nvPr/>
        </p:nvSpPr>
        <p:spPr>
          <a:xfrm>
            <a:off x="6355080" y="3858768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6355080" y="4251960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 17pt · Titoli 30pt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Struttura del codice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Separazione responsabilità e best practice C#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27432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CH"/>
          </a:p>
        </p:txBody>
      </p:sp>
      <p:sp>
        <p:nvSpPr>
          <p:cNvPr id="5" name="Shape 3"/>
          <p:cNvSpPr/>
          <p:nvPr/>
        </p:nvSpPr>
        <p:spPr>
          <a:xfrm>
            <a:off x="566928" y="1280160"/>
            <a:ext cx="438912" cy="43891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6" name="Text 4"/>
          <p:cNvSpPr/>
          <p:nvPr/>
        </p:nvSpPr>
        <p:spPr>
          <a:xfrm>
            <a:off x="566928" y="12801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🔐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97280" y="1307592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AuthService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66928" y="1673352"/>
            <a:ext cx="2514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Registrazione, login, cambio username/password con SHA-256 + salt. Ogni operazione è atomica e gestisce casi d'errore.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37560" y="1143000"/>
            <a:ext cx="27432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CH"/>
          </a:p>
        </p:txBody>
      </p:sp>
      <p:sp>
        <p:nvSpPr>
          <p:cNvPr id="10" name="Shape 8"/>
          <p:cNvSpPr/>
          <p:nvPr/>
        </p:nvSpPr>
        <p:spPr>
          <a:xfrm>
            <a:off x="3447288" y="1280160"/>
            <a:ext cx="438912" cy="43891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11" name="Text 9"/>
          <p:cNvSpPr/>
          <p:nvPr/>
        </p:nvSpPr>
        <p:spPr>
          <a:xfrm>
            <a:off x="3447288" y="12801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👤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977640" y="1307592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SessionService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447288" y="1673352"/>
            <a:ext cx="2514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Gestisce l'utente loggato in memoria durante la sessione. Espone Username, IsLoggedIn, Start() e End().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17920" y="1143000"/>
            <a:ext cx="27432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CH"/>
          </a:p>
        </p:txBody>
      </p:sp>
      <p:sp>
        <p:nvSpPr>
          <p:cNvPr id="15" name="Shape 13"/>
          <p:cNvSpPr/>
          <p:nvPr/>
        </p:nvSpPr>
        <p:spPr>
          <a:xfrm>
            <a:off x="6327648" y="1280160"/>
            <a:ext cx="438912" cy="438912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16" name="Text 14"/>
          <p:cNvSpPr/>
          <p:nvPr/>
        </p:nvSpPr>
        <p:spPr>
          <a:xfrm>
            <a:off x="6327648" y="12801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💾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858000" y="1307592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StorageService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327648" y="1673352"/>
            <a:ext cx="2514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Unico punto di accesso ai file JSON. Salva e carica dati tipizzati con gestione errori centralizzata.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3063240"/>
            <a:ext cx="39319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CH"/>
          </a:p>
        </p:txBody>
      </p:sp>
      <p:sp>
        <p:nvSpPr>
          <p:cNvPr id="20" name="Shape 18"/>
          <p:cNvSpPr/>
          <p:nvPr/>
        </p:nvSpPr>
        <p:spPr>
          <a:xfrm>
            <a:off x="566928" y="3200400"/>
            <a:ext cx="438912" cy="438912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21" name="Text 19"/>
          <p:cNvSpPr/>
          <p:nvPr/>
        </p:nvSpPr>
        <p:spPr>
          <a:xfrm>
            <a:off x="566928" y="32004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🎨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097280" y="322783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ThemeService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66928" y="3593592"/>
            <a:ext cx="3703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 tema colori e dimensione testo a runtime modificando il ResourceDictionary. Persiste in Preferences.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0" y="3063240"/>
            <a:ext cx="39319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CH"/>
          </a:p>
        </p:txBody>
      </p:sp>
      <p:sp>
        <p:nvSpPr>
          <p:cNvPr id="25" name="Shape 23"/>
          <p:cNvSpPr/>
          <p:nvPr/>
        </p:nvSpPr>
        <p:spPr>
          <a:xfrm>
            <a:off x="4681728" y="3200400"/>
            <a:ext cx="438912" cy="43891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26" name="Text 24"/>
          <p:cNvSpPr/>
          <p:nvPr/>
        </p:nvSpPr>
        <p:spPr>
          <a:xfrm>
            <a:off x="4681728" y="32004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✅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5212080" y="322783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PasswordValidator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681728" y="3593592"/>
            <a:ext cx="3703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Centralizza le regole di validazione password. Usato sia in registrazione che nel cambio password.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Schermate dell'app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pagine principali di MyAgenda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1508760" cy="26060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25400">
            <a:solidFill>
              <a:srgbClr val="D1D5DB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CH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1508760" cy="292608"/>
          </a:xfrm>
          <a:prstGeom prst="roundRect">
            <a:avLst>
              <a:gd name="adj" fmla="val 37500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6" name="Text 4"/>
          <p:cNvSpPr/>
          <p:nvPr/>
        </p:nvSpPr>
        <p:spPr>
          <a:xfrm>
            <a:off x="457200" y="1737360"/>
            <a:ext cx="1508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🔐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57200" y="237744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402336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Autenticazione con username e password.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121408" y="1325880"/>
            <a:ext cx="1508760" cy="26060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25400">
            <a:solidFill>
              <a:srgbClr val="D1D5DB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CH"/>
          </a:p>
        </p:txBody>
      </p:sp>
      <p:sp>
        <p:nvSpPr>
          <p:cNvPr id="10" name="Shape 8"/>
          <p:cNvSpPr/>
          <p:nvPr/>
        </p:nvSpPr>
        <p:spPr>
          <a:xfrm>
            <a:off x="2121408" y="1325880"/>
            <a:ext cx="1508760" cy="292608"/>
          </a:xfrm>
          <a:prstGeom prst="roundRect">
            <a:avLst>
              <a:gd name="adj" fmla="val 37500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11" name="Text 9"/>
          <p:cNvSpPr/>
          <p:nvPr/>
        </p:nvSpPr>
        <p:spPr>
          <a:xfrm>
            <a:off x="2121408" y="1737360"/>
            <a:ext cx="1508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🏠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2121408" y="237744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075688" y="402336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con eventi, top materie e calendario.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785616" y="1325880"/>
            <a:ext cx="1508760" cy="26060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25400">
            <a:solidFill>
              <a:srgbClr val="D1D5DB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CH"/>
          </a:p>
        </p:txBody>
      </p:sp>
      <p:sp>
        <p:nvSpPr>
          <p:cNvPr id="15" name="Shape 13"/>
          <p:cNvSpPr/>
          <p:nvPr/>
        </p:nvSpPr>
        <p:spPr>
          <a:xfrm>
            <a:off x="3785616" y="1325880"/>
            <a:ext cx="1508760" cy="292608"/>
          </a:xfrm>
          <a:prstGeom prst="roundRect">
            <a:avLst>
              <a:gd name="adj" fmla="val 37500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16" name="Text 14"/>
          <p:cNvSpPr/>
          <p:nvPr/>
        </p:nvSpPr>
        <p:spPr>
          <a:xfrm>
            <a:off x="3785616" y="1737360"/>
            <a:ext cx="1508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📅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3785616" y="237744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Attività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739896" y="402336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Calendario settimanale con quick-add.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49824" y="1325880"/>
            <a:ext cx="1508760" cy="26060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25400">
            <a:solidFill>
              <a:srgbClr val="D1D5DB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CH"/>
          </a:p>
        </p:txBody>
      </p:sp>
      <p:sp>
        <p:nvSpPr>
          <p:cNvPr id="20" name="Shape 18"/>
          <p:cNvSpPr/>
          <p:nvPr/>
        </p:nvSpPr>
        <p:spPr>
          <a:xfrm>
            <a:off x="5449824" y="1325880"/>
            <a:ext cx="1508760" cy="292608"/>
          </a:xfrm>
          <a:prstGeom prst="roundRect">
            <a:avLst>
              <a:gd name="adj" fmla="val 37500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21" name="Text 19"/>
          <p:cNvSpPr/>
          <p:nvPr/>
        </p:nvSpPr>
        <p:spPr>
          <a:xfrm>
            <a:off x="5449824" y="1737360"/>
            <a:ext cx="1508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📚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5449824" y="237744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404104" y="402336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Voti per semestre, media automatica.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114032" y="1325880"/>
            <a:ext cx="1508760" cy="26060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25400">
            <a:solidFill>
              <a:srgbClr val="D1D5DB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it-CH"/>
          </a:p>
        </p:txBody>
      </p:sp>
      <p:sp>
        <p:nvSpPr>
          <p:cNvPr id="25" name="Shape 23"/>
          <p:cNvSpPr/>
          <p:nvPr/>
        </p:nvSpPr>
        <p:spPr>
          <a:xfrm>
            <a:off x="7114032" y="1325880"/>
            <a:ext cx="1508760" cy="292608"/>
          </a:xfrm>
          <a:prstGeom prst="roundRect">
            <a:avLst>
              <a:gd name="adj" fmla="val 37500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26" name="Text 24"/>
          <p:cNvSpPr/>
          <p:nvPr/>
        </p:nvSpPr>
        <p:spPr>
          <a:xfrm>
            <a:off x="7114032" y="1737360"/>
            <a:ext cx="1508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👤</a:t>
            </a:r>
            <a:endParaRPr lang="en-US" sz="2800" dirty="0"/>
          </a:p>
        </p:txBody>
      </p:sp>
      <p:sp>
        <p:nvSpPr>
          <p:cNvPr id="27" name="Text 25"/>
          <p:cNvSpPr/>
          <p:nvPr/>
        </p:nvSpPr>
        <p:spPr>
          <a:xfrm>
            <a:off x="7114032" y="237744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068312" y="402336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Tema, testo e credenziali live.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Suddivisione del lavoro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Contributo di ogni membro del team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47472" y="1234440"/>
            <a:ext cx="2743200" cy="356616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47472" y="1234440"/>
            <a:ext cx="2743200" cy="621792"/>
          </a:xfrm>
          <a:prstGeom prst="roundRect">
            <a:avLst>
              <a:gd name="adj" fmla="val 20588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it-CH" dirty="0"/>
          </a:p>
        </p:txBody>
      </p:sp>
      <p:sp>
        <p:nvSpPr>
          <p:cNvPr id="6" name="Shape 4"/>
          <p:cNvSpPr/>
          <p:nvPr/>
        </p:nvSpPr>
        <p:spPr>
          <a:xfrm>
            <a:off x="347472" y="1600200"/>
            <a:ext cx="274320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4632" y="134416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 (Team Leader)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84632" y="2066544"/>
            <a:ext cx="164592" cy="16459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1984248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 err="1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Architettura</a:t>
            </a: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del progetto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84632" y="2423160"/>
            <a:ext cx="2468880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4632" y="2523744"/>
            <a:ext cx="164592" cy="16459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2441448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AuthService (login, registrazione, SHA-256)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84632" y="2880360"/>
            <a:ext cx="2468880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84632" y="2980944"/>
            <a:ext cx="164592" cy="16459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2898648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 err="1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Navigazione</a:t>
            </a: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pagine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84632" y="3337560"/>
            <a:ext cx="2468880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84632" y="3438144"/>
            <a:ext cx="164592" cy="16459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3232" y="3355848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 err="1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Documentazione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84632" y="3794760"/>
            <a:ext cx="2468880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84632" y="3895344"/>
            <a:ext cx="164592" cy="16459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3232" y="3813048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 err="1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</a:t>
            </a: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(Demo e PowerPoint)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84632" y="4251960"/>
            <a:ext cx="2468880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13232" y="4270248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3200400" y="1232916"/>
            <a:ext cx="2743200" cy="356616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CH"/>
          </a:p>
        </p:txBody>
      </p:sp>
      <p:sp>
        <p:nvSpPr>
          <p:cNvPr id="26" name="Shape 24"/>
          <p:cNvSpPr/>
          <p:nvPr/>
        </p:nvSpPr>
        <p:spPr>
          <a:xfrm>
            <a:off x="3200400" y="1234440"/>
            <a:ext cx="2743200" cy="621792"/>
          </a:xfrm>
          <a:prstGeom prst="roundRect">
            <a:avLst>
              <a:gd name="adj" fmla="val 20588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1600200"/>
            <a:ext cx="2743200" cy="25603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337560" y="134416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Mateo (Developer)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3337560" y="2066544"/>
            <a:ext cx="164592" cy="164592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598164" y="3355848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 err="1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Pagina</a:t>
            </a: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Attività</a:t>
            </a: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en-US" sz="1150" dirty="0" err="1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Pianificazioni</a:t>
            </a: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3337560" y="2423160"/>
            <a:ext cx="2468880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337560" y="2523744"/>
            <a:ext cx="164592" cy="164592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584448" y="2921508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 err="1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Pagina</a:t>
            </a: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Scuola</a:t>
            </a: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</a:t>
            </a:r>
            <a:r>
              <a:rPr lang="en-US" sz="1150" dirty="0" err="1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Materie</a:t>
            </a: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r>
              <a:rPr lang="en-US" sz="1150" dirty="0" err="1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voti</a:t>
            </a: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3337560" y="2880360"/>
            <a:ext cx="2468880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337560" y="2980944"/>
            <a:ext cx="164592" cy="164592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598164" y="245059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 err="1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Pagine</a:t>
            </a: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Home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3337560" y="3337560"/>
            <a:ext cx="2468880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337560" y="3438144"/>
            <a:ext cx="164592" cy="164592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566160" y="3355848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3337560" y="3794760"/>
            <a:ext cx="2468880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337560" y="3895344"/>
            <a:ext cx="164592" cy="164592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566160" y="3813048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3337560" y="4251960"/>
            <a:ext cx="2468880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566160" y="4270248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6053328" y="1234440"/>
            <a:ext cx="2743200" cy="356616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6053328" y="1234440"/>
            <a:ext cx="2743200" cy="621792"/>
          </a:xfrm>
          <a:prstGeom prst="roundRect">
            <a:avLst>
              <a:gd name="adj" fmla="val 20588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053328" y="1600200"/>
            <a:ext cx="2743200" cy="2560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190488" y="134416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Matteo (</a:t>
            </a:r>
            <a:r>
              <a:rPr lang="en-US" sz="1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Assistent</a:t>
            </a: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800" dirty="0"/>
          </a:p>
        </p:txBody>
      </p:sp>
      <p:sp>
        <p:nvSpPr>
          <p:cNvPr id="50" name="Shape 48"/>
          <p:cNvSpPr/>
          <p:nvPr/>
        </p:nvSpPr>
        <p:spPr>
          <a:xfrm>
            <a:off x="6190488" y="2066544"/>
            <a:ext cx="164592" cy="16459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464808" y="2423160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 err="1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Pagina</a:t>
            </a: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Profilo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6190488" y="2423160"/>
            <a:ext cx="2468880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190488" y="2523744"/>
            <a:ext cx="164592" cy="16459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419088" y="2441448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50" dirty="0"/>
          </a:p>
        </p:txBody>
      </p:sp>
      <p:sp>
        <p:nvSpPr>
          <p:cNvPr id="55" name="Shape 53"/>
          <p:cNvSpPr/>
          <p:nvPr/>
        </p:nvSpPr>
        <p:spPr>
          <a:xfrm>
            <a:off x="6190488" y="2880360"/>
            <a:ext cx="2468880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190488" y="3337560"/>
            <a:ext cx="2468880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419088" y="3355848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50" dirty="0"/>
          </a:p>
        </p:txBody>
      </p:sp>
      <p:sp>
        <p:nvSpPr>
          <p:cNvPr id="61" name="Shape 59"/>
          <p:cNvSpPr/>
          <p:nvPr/>
        </p:nvSpPr>
        <p:spPr>
          <a:xfrm>
            <a:off x="6190488" y="3794760"/>
            <a:ext cx="2468880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419088" y="3813048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50" dirty="0"/>
          </a:p>
        </p:txBody>
      </p:sp>
      <p:sp>
        <p:nvSpPr>
          <p:cNvPr id="64" name="Shape 62"/>
          <p:cNvSpPr/>
          <p:nvPr/>
        </p:nvSpPr>
        <p:spPr>
          <a:xfrm>
            <a:off x="6190488" y="4251960"/>
            <a:ext cx="2468880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419088" y="4270248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50" dirty="0"/>
          </a:p>
        </p:txBody>
      </p:sp>
      <p:sp>
        <p:nvSpPr>
          <p:cNvPr id="69" name="Text 34">
            <a:extLst>
              <a:ext uri="{FF2B5EF4-FFF2-40B4-BE49-F238E27FC236}">
                <a16:creationId xmlns:a16="http://schemas.microsoft.com/office/drawing/2014/main" id="{069F5899-5183-939D-2E1C-1C9FF9FE101A}"/>
              </a:ext>
            </a:extLst>
          </p:cNvPr>
          <p:cNvSpPr/>
          <p:nvPr/>
        </p:nvSpPr>
        <p:spPr>
          <a:xfrm>
            <a:off x="3598164" y="3803904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 err="1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Navigazione</a:t>
            </a: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pagine</a:t>
            </a:r>
            <a:endParaRPr lang="en-US" sz="1150" dirty="0"/>
          </a:p>
        </p:txBody>
      </p:sp>
      <p:sp>
        <p:nvSpPr>
          <p:cNvPr id="70" name="Text 28">
            <a:extLst>
              <a:ext uri="{FF2B5EF4-FFF2-40B4-BE49-F238E27FC236}">
                <a16:creationId xmlns:a16="http://schemas.microsoft.com/office/drawing/2014/main" id="{2874C55E-130E-9198-2AF5-0B62AFB1198F}"/>
              </a:ext>
            </a:extLst>
          </p:cNvPr>
          <p:cNvSpPr/>
          <p:nvPr/>
        </p:nvSpPr>
        <p:spPr>
          <a:xfrm>
            <a:off x="3611880" y="1956816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 err="1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Architettura</a:t>
            </a: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del </a:t>
            </a:r>
            <a:r>
              <a:rPr lang="en-US" sz="1150" dirty="0" err="1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progetto</a:t>
            </a:r>
            <a:endParaRPr lang="en-US" sz="1150" dirty="0"/>
          </a:p>
        </p:txBody>
      </p:sp>
      <p:sp>
        <p:nvSpPr>
          <p:cNvPr id="72" name="Text 7">
            <a:extLst>
              <a:ext uri="{FF2B5EF4-FFF2-40B4-BE49-F238E27FC236}">
                <a16:creationId xmlns:a16="http://schemas.microsoft.com/office/drawing/2014/main" id="{D8A3E499-5B7F-96FB-0C1C-1BFFEAB8278E}"/>
              </a:ext>
            </a:extLst>
          </p:cNvPr>
          <p:cNvSpPr/>
          <p:nvPr/>
        </p:nvSpPr>
        <p:spPr>
          <a:xfrm>
            <a:off x="6464808" y="194767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 err="1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Architettura</a:t>
            </a: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del progetto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31520" y="3200400"/>
            <a:ext cx="3657600" cy="3657600"/>
          </a:xfrm>
          <a:prstGeom prst="ellipse">
            <a:avLst/>
          </a:prstGeom>
          <a:solidFill>
            <a:srgbClr val="2563EB">
              <a:alpha val="20000"/>
            </a:srgbClr>
          </a:solidFill>
          <a:ln w="12700">
            <a:solidFill>
              <a:srgbClr val="2563EB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3" name="Shape 1"/>
          <p:cNvSpPr/>
          <p:nvPr/>
        </p:nvSpPr>
        <p:spPr>
          <a:xfrm>
            <a:off x="7772400" y="-457200"/>
            <a:ext cx="2743200" cy="2743200"/>
          </a:xfrm>
          <a:prstGeom prst="ellipse">
            <a:avLst/>
          </a:prstGeom>
          <a:solidFill>
            <a:srgbClr val="7C3AED">
              <a:alpha val="25000"/>
            </a:srgbClr>
          </a:solidFill>
          <a:ln w="12700">
            <a:solidFill>
              <a:srgbClr val="7C3AED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Conclusioni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App multipiattaforma funzionante (Windows, Android, iOS)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399032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Autenticazione sicura con SHA-256 e salt casuale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837944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Persistenza dati per-utente con JSON + Preferences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2276856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Design system coerente con DynamicResource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2715768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Tema colori e dimensione testo personalizzabili in tempo reale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3154680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Codice strutturato con servizi separati e responsabilità chiare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897880" y="914400"/>
            <a:ext cx="2971800" cy="3566160"/>
          </a:xfrm>
          <a:prstGeom prst="roundRect">
            <a:avLst>
              <a:gd name="adj" fmla="val 3077"/>
            </a:avLst>
          </a:prstGeom>
          <a:solidFill>
            <a:srgbClr val="1E3A5F">
              <a:alpha val="70000"/>
            </a:srgbClr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12" name="Text 10"/>
          <p:cNvSpPr/>
          <p:nvPr/>
        </p:nvSpPr>
        <p:spPr>
          <a:xfrm>
            <a:off x="6035040" y="1024128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Sviluppi futuri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035040" y="1463040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🔔  Notifiche push native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035040" y="1993392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☁️  Sincronizzazione cloud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035040" y="2523744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Statistiche e grafici voti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035040" y="3054096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🌙  Tema scuro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035040" y="3584448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 Condivisione agenda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76</TotalTime>
  <Words>944</Words>
  <Application>Microsoft Office PowerPoint</Application>
  <PresentationFormat>Presentazione su schermo (16:9)</PresentationFormat>
  <Paragraphs>213</Paragraphs>
  <Slides>11</Slides>
  <Notes>11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11</vt:i4>
      </vt:variant>
    </vt:vector>
  </HeadingPairs>
  <TitlesOfParts>
    <vt:vector size="15" baseType="lpstr">
      <vt:lpstr>Arial</vt:lpstr>
      <vt:lpstr>Calibri</vt:lpstr>
      <vt:lpstr>Courier New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MyAgenda — Presentazione</dc:title>
  <dc:subject>PptxGenJS Presentation</dc:subject>
  <dc:creator>David</dc:creator>
  <cp:lastModifiedBy>uzf668@cpt.local</cp:lastModifiedBy>
  <cp:revision>6</cp:revision>
  <dcterms:created xsi:type="dcterms:W3CDTF">2026-06-09T18:59:36Z</dcterms:created>
  <dcterms:modified xsi:type="dcterms:W3CDTF">2026-06-11T13:21:44Z</dcterms:modified>
</cp:coreProperties>
</file>